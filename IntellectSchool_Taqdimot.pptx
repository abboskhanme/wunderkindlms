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-1280160"/>
            <a:ext cx="3291840" cy="3291840"/>
          </a:xfrm>
          <a:prstGeom prst="ellipse">
            <a:avLst/>
          </a:prstGeom>
          <a:solidFill>
            <a:srgbClr val="0D9488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521440" y="4937760"/>
            <a:ext cx="2377440" cy="237744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5120640"/>
            <a:ext cx="2743200" cy="274320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101498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914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INTELLECTSCHOOL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Maktab boshqaruvini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tizimga jamlang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841248" y="41605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O'quvchi, o'qituvchi va ota-ona — jurnal, davomat, dars jadvali, moliya va mobil ilova bitta zamonaviy platformada.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41248" y="5440680"/>
            <a:ext cx="1938528" cy="475488"/>
          </a:xfrm>
          <a:prstGeom prst="roundRect">
            <a:avLst>
              <a:gd name="adj" fmla="val 50000"/>
            </a:avLst>
          </a:prstGeom>
          <a:solidFill>
            <a:srgbClr val="1038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1248" y="5440680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(cloud)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08376" y="5440680"/>
            <a:ext cx="1839773" cy="475488"/>
          </a:xfrm>
          <a:prstGeom prst="roundRect">
            <a:avLst>
              <a:gd name="adj" fmla="val 50000"/>
            </a:avLst>
          </a:prstGeom>
          <a:solidFill>
            <a:srgbClr val="1038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08376" y="5440680"/>
            <a:ext cx="18397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ilovalar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076749" y="5440680"/>
            <a:ext cx="2629814" cy="475488"/>
          </a:xfrm>
          <a:prstGeom prst="roundRect">
            <a:avLst>
              <a:gd name="adj" fmla="val 50000"/>
            </a:avLst>
          </a:prstGeom>
          <a:solidFill>
            <a:srgbClr val="1038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76749" y="5440680"/>
            <a:ext cx="26298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bildirishnoma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Tanish muammolarmi?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1248" y="129844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Ko'pchilik maktablar hali ham qog'oz va tarqoq jadvallar bilan ishlaydi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212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0848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Qog'ozdagi jurnal va davomat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691640" y="2441448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 yo'qoladi, hisobot tayyorlash soatlab vaqt oladi.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822960" y="3026664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3273552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91640" y="314553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bilan zaif aloqa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691640" y="3502152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 va davomatdan ota-ona o'z vaqtida xabardor bo'lmaydi.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22960" y="4087368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4334256"/>
            <a:ext cx="420624" cy="4206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91640" y="42062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 ustidan nazorat yo'q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691640" y="4562856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To'lovlar, qarzdorlik va maoshlar aniq hisobga olinmaydi.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22960" y="5148072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5394960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91640" y="526694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Lidlar (yangi o'quvchilar) qo'ldan ketadi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1691640" y="562356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Murojaatlar kuzatilmaydi, qabul jarayoni boshqarilmaydi.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Bitta platforma — barcha jarayonlar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371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IntellectSchool maktabning o'quv, ma'muriy va moliyaviy ishlarini yagona tizimda birlashtiradi.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459736"/>
            <a:ext cx="868680" cy="86868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1425" y="2685593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21408" y="2459736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 jarayoni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822960" y="2148840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4480560" y="21488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73168" y="2459736"/>
            <a:ext cx="868680" cy="86868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025" y="2685593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79008" y="2459736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 &amp; biznes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4480560" y="2148840"/>
            <a:ext cx="91440" cy="1828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4" name="Shape 10"/>
          <p:cNvSpPr/>
          <p:nvPr/>
        </p:nvSpPr>
        <p:spPr>
          <a:xfrm>
            <a:off x="8138160" y="21488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0768" y="2459736"/>
            <a:ext cx="868680" cy="86868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6625" y="2685593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36608" y="2459736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ilovalar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8138160" y="2148840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4"/>
          <p:cNvSpPr/>
          <p:nvPr/>
        </p:nvSpPr>
        <p:spPr>
          <a:xfrm>
            <a:off x="822960" y="42062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115568" y="4517136"/>
            <a:ext cx="868680" cy="86868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1425" y="4742993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21408" y="4517136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Aloqa &amp; chat</a:t>
            </a:r>
            <a:endParaRPr lang="en-US" sz="1750" dirty="0"/>
          </a:p>
        </p:txBody>
      </p:sp>
      <p:sp>
        <p:nvSpPr>
          <p:cNvPr id="23" name="Shape 17"/>
          <p:cNvSpPr/>
          <p:nvPr/>
        </p:nvSpPr>
        <p:spPr>
          <a:xfrm>
            <a:off x="822960" y="4206240"/>
            <a:ext cx="91440" cy="18288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Shape 18"/>
          <p:cNvSpPr/>
          <p:nvPr/>
        </p:nvSpPr>
        <p:spPr>
          <a:xfrm>
            <a:off x="4480560" y="42062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73168" y="4517136"/>
            <a:ext cx="868680" cy="86868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025" y="4742993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79008" y="4517136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&amp; tahlil</a:t>
            </a:r>
            <a:endParaRPr lang="en-US" sz="1750" dirty="0"/>
          </a:p>
        </p:txBody>
      </p:sp>
      <p:sp>
        <p:nvSpPr>
          <p:cNvPr id="28" name="Shape 21"/>
          <p:cNvSpPr/>
          <p:nvPr/>
        </p:nvSpPr>
        <p:spPr>
          <a:xfrm>
            <a:off x="4480560" y="4206240"/>
            <a:ext cx="9144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2"/>
          <p:cNvSpPr/>
          <p:nvPr/>
        </p:nvSpPr>
        <p:spPr>
          <a:xfrm>
            <a:off x="8138160" y="4206240"/>
            <a:ext cx="34564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30768" y="4517136"/>
            <a:ext cx="868680" cy="86868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625" y="4742993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36608" y="4517136"/>
            <a:ext cx="19019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Foydalanuvchilar</a:t>
            </a:r>
            <a:endParaRPr lang="en-US" sz="1750" dirty="0"/>
          </a:p>
        </p:txBody>
      </p:sp>
      <p:sp>
        <p:nvSpPr>
          <p:cNvPr id="33" name="Shape 25"/>
          <p:cNvSpPr/>
          <p:nvPr/>
        </p:nvSpPr>
        <p:spPr>
          <a:xfrm>
            <a:off x="8138160" y="4206240"/>
            <a:ext cx="91440" cy="1828800"/>
          </a:xfrm>
          <a:prstGeom prst="rect">
            <a:avLst/>
          </a:prstGeom>
          <a:solidFill>
            <a:srgbClr val="22C55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Uch turdagi foydalanuvchi — bitta tizim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3511296" cy="4480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91640"/>
            <a:ext cx="3511296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2075688" y="1984248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22576" y="2231136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1546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840480"/>
            <a:ext cx="277977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To'liq boshqaruv paneli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O'quvchi, xodim, sinf, moliya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va statistika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Rollar va ruxsatlar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81144" y="1691640"/>
            <a:ext cx="3511296" cy="4480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691640"/>
            <a:ext cx="3511296" cy="13716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Shape 8"/>
          <p:cNvSpPr/>
          <p:nvPr/>
        </p:nvSpPr>
        <p:spPr>
          <a:xfrm>
            <a:off x="5833872" y="1984248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31136"/>
            <a:ext cx="512064" cy="51206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1144" y="31546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O'qituvchi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992624" y="3840480"/>
            <a:ext cx="277977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jurnal va davomat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Topshiriq va baholash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jadvali va maosh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chati — web va mobil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8339328" y="1691640"/>
            <a:ext cx="3511296" cy="4480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39328" y="1691640"/>
            <a:ext cx="3511296" cy="1371600"/>
          </a:xfrm>
          <a:prstGeom prst="rect">
            <a:avLst/>
          </a:prstGeom>
          <a:solidFill>
            <a:srgbClr val="0B6B62"/>
          </a:solidFill>
          <a:ln/>
        </p:spPr>
      </p:sp>
      <p:sp>
        <p:nvSpPr>
          <p:cNvPr id="17" name="Shape 13"/>
          <p:cNvSpPr/>
          <p:nvPr/>
        </p:nvSpPr>
        <p:spPr>
          <a:xfrm>
            <a:off x="9592056" y="1984248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4" y="2231136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39328" y="3154680"/>
            <a:ext cx="3511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Ota-ona / O'quvchi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750808" y="3840480"/>
            <a:ext cx="2779776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 va davomat real vaqtda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va qarzdorlik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Bildirishnoma va chat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ilova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Asosiy modullar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20700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ehtiyojlarining barchasi qamrab olingan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08483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985" y="2284537"/>
            <a:ext cx="368686" cy="3686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2907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Davomat &amp; Jurnal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97280" y="32461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 baho, choraklik natija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694176" y="1828800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968496" y="208483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201" y="2284537"/>
            <a:ext cx="368686" cy="36868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68496" y="2907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jadvali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968496" y="32461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va o'qituvchi bo'yicha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565392" y="1828800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839712" y="208483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417" y="2284537"/>
            <a:ext cx="368686" cy="3686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39712" y="2907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— fanlar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839712" y="32461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Mavzular va o'quvchi progressi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436608" y="1828800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710928" y="2084832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0633" y="2284537"/>
            <a:ext cx="368686" cy="36868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10928" y="2907792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Lidlar (CRM)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710928" y="32461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Qabul jarayoni — kanban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22960" y="3995928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97280" y="42519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6985" y="4451665"/>
            <a:ext cx="368686" cy="36868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97280" y="5074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Shartnomalar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097280" y="5413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O'quvchi shartnomalari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3694176" y="3995928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968496" y="42519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8201" y="4451665"/>
            <a:ext cx="368686" cy="36868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968496" y="5074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Moliya &amp; maosh</a:t>
            </a:r>
            <a:endParaRPr lang="en-US" sz="1550" dirty="0"/>
          </a:p>
        </p:txBody>
      </p:sp>
      <p:sp>
        <p:nvSpPr>
          <p:cNvPr id="33" name="Text 25"/>
          <p:cNvSpPr/>
          <p:nvPr/>
        </p:nvSpPr>
        <p:spPr>
          <a:xfrm>
            <a:off x="3968496" y="5413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Kirim-chiqim, o'qituvchi maoshi</a:t>
            </a:r>
            <a:endParaRPr lang="en-US" sz="1150" dirty="0"/>
          </a:p>
        </p:txBody>
      </p:sp>
      <p:sp>
        <p:nvSpPr>
          <p:cNvPr id="34" name="Shape 26"/>
          <p:cNvSpPr/>
          <p:nvPr/>
        </p:nvSpPr>
        <p:spPr>
          <a:xfrm>
            <a:off x="6565392" y="3995928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839712" y="42519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9417" y="4451665"/>
            <a:ext cx="368686" cy="368686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39712" y="5074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Oshxona</a:t>
            </a:r>
            <a:endParaRPr lang="en-US" sz="1550" dirty="0"/>
          </a:p>
        </p:txBody>
      </p:sp>
      <p:sp>
        <p:nvSpPr>
          <p:cNvPr id="38" name="Text 29"/>
          <p:cNvSpPr/>
          <p:nvPr/>
        </p:nvSpPr>
        <p:spPr>
          <a:xfrm>
            <a:off x="6839712" y="5413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taom rejasi</a:t>
            </a:r>
            <a:endParaRPr lang="en-US" sz="1150" dirty="0"/>
          </a:p>
        </p:txBody>
      </p:sp>
      <p:sp>
        <p:nvSpPr>
          <p:cNvPr id="39" name="Shape 30"/>
          <p:cNvSpPr/>
          <p:nvPr/>
        </p:nvSpPr>
        <p:spPr>
          <a:xfrm>
            <a:off x="9436608" y="3995928"/>
            <a:ext cx="2706624" cy="1965960"/>
          </a:xfrm>
          <a:prstGeom prst="roundRect">
            <a:avLst>
              <a:gd name="adj" fmla="val 4186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710928" y="425196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10633" y="4451665"/>
            <a:ext cx="368686" cy="368686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710928" y="5074920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Hisobotlar</a:t>
            </a:r>
            <a:endParaRPr lang="en-US" sz="1550" dirty="0"/>
          </a:p>
        </p:txBody>
      </p:sp>
      <p:sp>
        <p:nvSpPr>
          <p:cNvPr id="43" name="Text 33"/>
          <p:cNvSpPr/>
          <p:nvPr/>
        </p:nvSpPr>
        <p:spPr>
          <a:xfrm>
            <a:off x="9710928" y="5413248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 va o'qituvchi tahlili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ect">
            <a:avLst/>
          </a:prstGeom>
          <a:solidFill>
            <a:srgbClr val="0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3017520" y="-914400"/>
            <a:ext cx="2377440" cy="237744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86868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O'quv jarayoni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3246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kundalik ishini telefon yoki kompyuterdan boshqaradi — qog'ozsiz.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754880" y="777240"/>
            <a:ext cx="6766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10912" y="1069848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352" y="1255288"/>
            <a:ext cx="342351" cy="34235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97880" y="97840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Davomat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897880" y="13716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darsda bir tegishda belgilanadi — yo'qlama avtomatik jamlanadi.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54880" y="2240280"/>
            <a:ext cx="6766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010912" y="2532888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352" y="2718328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97880" y="24414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 &amp; jurnal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5897880" y="283464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Kunlik va choraklik baholar, dars mavzusi va izohlar.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754880" y="3703320"/>
            <a:ext cx="6766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10912" y="3995928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352" y="4181368"/>
            <a:ext cx="342351" cy="34235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97880" y="390448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Topshiriqlar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5897880" y="429768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Vazifa berish, fayl yuklash va natijalarni baholash.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754880" y="5166360"/>
            <a:ext cx="67665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010912" y="5458968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6352" y="5644408"/>
            <a:ext cx="342351" cy="34235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97880" y="53675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jadvali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5897880" y="576072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Shaxsiy jadval, almashinuvlar va maosh ko'rinishi.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Moliya va biznes nazorati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 maktab egasi uchun — daromad, qarzdorlik va o'sish bir ekranda.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52852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91440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" name="Shape 4"/>
          <p:cNvSpPr/>
          <p:nvPr/>
        </p:nvSpPr>
        <p:spPr>
          <a:xfrm>
            <a:off x="1115568" y="2478024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1008" y="2663464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313432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Lidlar / CRM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11680" y="2715768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o'quvchi murojaatlari kanban bosqichlarida — bironta ham qo'ldan ketmaydi.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27648" y="2057400"/>
            <a:ext cx="52852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327648" y="2057400"/>
            <a:ext cx="91440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2" name="Shape 9"/>
          <p:cNvSpPr/>
          <p:nvPr/>
        </p:nvSpPr>
        <p:spPr>
          <a:xfrm>
            <a:off x="6620256" y="2478024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696" y="2663464"/>
            <a:ext cx="342351" cy="34235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16368" y="2313432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Shartnomalar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516368" y="2715768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o'quvchi uchun shartnoma, muddati va to'lov shartlari.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2960" y="3831336"/>
            <a:ext cx="52852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22960" y="3831336"/>
            <a:ext cx="91440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Shape 14"/>
          <p:cNvSpPr/>
          <p:nvPr/>
        </p:nvSpPr>
        <p:spPr>
          <a:xfrm>
            <a:off x="1115568" y="4251960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008" y="4437400"/>
            <a:ext cx="342351" cy="34235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011680" y="408736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&amp; qarzdorlik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011680" y="4489704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Oylik to'lovlar, qarz nazorati, SMS orqali eslatma.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327648" y="3831336"/>
            <a:ext cx="52852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327648" y="3831336"/>
            <a:ext cx="91440" cy="155448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4" name="Shape 19"/>
          <p:cNvSpPr/>
          <p:nvPr/>
        </p:nvSpPr>
        <p:spPr>
          <a:xfrm>
            <a:off x="6620256" y="4251960"/>
            <a:ext cx="713232" cy="713232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696" y="4437400"/>
            <a:ext cx="342351" cy="34235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516368" y="4087368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maoshi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7516368" y="4489704"/>
            <a:ext cx="38221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Dars yoki stavka asosida avtomatik hisob-kitob.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Ota-ona bilan jonli aloqa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29844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 bilan oila o'rtasida uzluksiz, shaffof bog'lanish.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85232" cy="1481328"/>
          </a:xfrm>
          <a:prstGeom prst="roundRect">
            <a:avLst>
              <a:gd name="adj" fmla="val 493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9572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720" y="2581168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93392" y="224942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Bildirishnoma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93392" y="2633472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Baho, davomat va to'lov bo'yicha avtomatik xabar.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7648" y="2011680"/>
            <a:ext cx="5285232" cy="1481328"/>
          </a:xfrm>
          <a:prstGeom prst="roundRect">
            <a:avLst>
              <a:gd name="adj" fmla="val 493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01968" y="239572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408" y="258116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249424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integratsiya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7498080" y="2633472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Muhim xabarlar Telegram orqali ham yetkaziladi.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2960" y="3712464"/>
            <a:ext cx="5285232" cy="1481328"/>
          </a:xfrm>
          <a:prstGeom prst="roundRect">
            <a:avLst>
              <a:gd name="adj" fmla="val 493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097280" y="40965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2720" y="4281952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93392" y="395020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chati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93392" y="433425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va ota-onalar bilan to'g'ridan-to'g'ri aloqa.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7648" y="3712464"/>
            <a:ext cx="5285232" cy="1481328"/>
          </a:xfrm>
          <a:prstGeom prst="roundRect">
            <a:avLst>
              <a:gd name="adj" fmla="val 493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01968" y="4096512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408" y="4281952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950208"/>
            <a:ext cx="3913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joylashuv</a:t>
            </a:r>
            <a:endParaRPr lang="en-US" sz="1650" dirty="0"/>
          </a:p>
        </p:txBody>
      </p:sp>
      <p:sp>
        <p:nvSpPr>
          <p:cNvPr id="23" name="Text 17"/>
          <p:cNvSpPr/>
          <p:nvPr/>
        </p:nvSpPr>
        <p:spPr>
          <a:xfrm>
            <a:off x="7498080" y="433425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Farzandning joylashuvi admin xaritasida ko'rinadi.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0B2A3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846320"/>
            <a:ext cx="2560320" cy="2560320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Ikkita mobil ilova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41248" y="15544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panelga qo'shimcha — kundalik ish telefonda ham qulay.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943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743200"/>
            <a:ext cx="777240" cy="77724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362" y="294528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05740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O'qituvchi ilovasi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205740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Jurnal, davomat, topshiriq, jadval, maosh va chat — cho'ntakda.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22960" y="4114800"/>
            <a:ext cx="5943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97280" y="4526280"/>
            <a:ext cx="777240" cy="77724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362" y="472836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057400" y="4389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/ O'quvchi ilovasi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2057400" y="4846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Baho, davomat, to'lov, bildirishnoma, chat va GPS joylashuv.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732520" y="1051560"/>
            <a:ext cx="2057400" cy="4160520"/>
          </a:xfrm>
          <a:prstGeom prst="roundRect">
            <a:avLst>
              <a:gd name="adj" fmla="val 12444"/>
            </a:avLst>
          </a:prstGeom>
          <a:solidFill>
            <a:srgbClr val="FFFFFF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49740" y="1161288"/>
            <a:ext cx="822960" cy="146304"/>
          </a:xfrm>
          <a:prstGeom prst="roundRect">
            <a:avLst>
              <a:gd name="adj" fmla="val 50000"/>
            </a:avLst>
          </a:prstGeom>
          <a:solidFill>
            <a:srgbClr val="0B2A3A"/>
          </a:solidFill>
          <a:ln/>
        </p:spPr>
      </p:sp>
      <p:sp>
        <p:nvSpPr>
          <p:cNvPr id="18" name="Shape 14"/>
          <p:cNvSpPr/>
          <p:nvPr/>
        </p:nvSpPr>
        <p:spPr>
          <a:xfrm>
            <a:off x="8897112" y="1463040"/>
            <a:ext cx="1728216" cy="9144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188" y="1600200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97112" y="213055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97112" y="2560320"/>
            <a:ext cx="1728216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/>
        </p:spPr>
      </p:sp>
      <p:sp>
        <p:nvSpPr>
          <p:cNvPr id="22" name="Text 17"/>
          <p:cNvSpPr/>
          <p:nvPr/>
        </p:nvSpPr>
        <p:spPr>
          <a:xfrm>
            <a:off x="9043416" y="25603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Matematika  5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897112" y="3182112"/>
            <a:ext cx="1728216" cy="502920"/>
          </a:xfrm>
          <a:prstGeom prst="roundRect">
            <a:avLst>
              <a:gd name="adj" fmla="val 10909"/>
            </a:avLst>
          </a:prstGeom>
          <a:solidFill>
            <a:srgbClr val="F4FAF9"/>
          </a:solidFill>
          <a:ln/>
        </p:spPr>
      </p:sp>
      <p:sp>
        <p:nvSpPr>
          <p:cNvPr id="24" name="Text 19"/>
          <p:cNvSpPr/>
          <p:nvPr/>
        </p:nvSpPr>
        <p:spPr>
          <a:xfrm>
            <a:off x="9043416" y="318211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 tili  4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97112" y="3803904"/>
            <a:ext cx="1728216" cy="502920"/>
          </a:xfrm>
          <a:prstGeom prst="roundRect">
            <a:avLst>
              <a:gd name="adj" fmla="val 10909"/>
            </a:avLst>
          </a:prstGeom>
          <a:solidFill>
            <a:srgbClr val="EAF6F4"/>
          </a:solidFill>
          <a:ln/>
        </p:spPr>
      </p:sp>
      <p:sp>
        <p:nvSpPr>
          <p:cNvPr id="26" name="Text 21"/>
          <p:cNvSpPr/>
          <p:nvPr/>
        </p:nvSpPr>
        <p:spPr>
          <a:xfrm>
            <a:off x="9043416" y="3803904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Davomat  +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897112" y="4425696"/>
            <a:ext cx="1728216" cy="502920"/>
          </a:xfrm>
          <a:prstGeom prst="roundRect">
            <a:avLst>
              <a:gd name="adj" fmla="val 10909"/>
            </a:avLst>
          </a:prstGeom>
          <a:solidFill>
            <a:srgbClr val="F4FAF9"/>
          </a:solidFill>
          <a:ln/>
        </p:spPr>
      </p:sp>
      <p:sp>
        <p:nvSpPr>
          <p:cNvPr id="28" name="Text 23"/>
          <p:cNvSpPr/>
          <p:nvPr/>
        </p:nvSpPr>
        <p:spPr>
          <a:xfrm>
            <a:off x="9043416" y="442569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To'lov  OK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Ishonchli va xavfsiz texnologiya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Zamonaviy arxitektura — har bir maktabning ma'lumoti alohida va himoyalangan.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331720"/>
            <a:ext cx="731520" cy="73152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7475" y="252191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1089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Ko'p maktabli (multi-tenant)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3429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tizim — har maktab ma'lumoti to'liq ajratilgan.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80560" y="20574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331720"/>
            <a:ext cx="731520" cy="73152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75" y="25219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54880" y="31089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Xavfsizlik va rollar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754880" y="3429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asosida kirish, har xodimga aniq ruxsatlar.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2057400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0" y="2331720"/>
            <a:ext cx="731520" cy="73152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75" y="252191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12480" y="3108960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Bulutli (cloud)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12480" y="3429000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 shart emas — brauzerdan istalgan joydan.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22960" y="4041648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97280" y="4315968"/>
            <a:ext cx="731520" cy="73152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475" y="450616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509320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Ruxsatlar tizimi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097280" y="541324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Superadmin, admin, xodim va o'qituvchi darajalari.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80560" y="4041648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4315968"/>
            <a:ext cx="731520" cy="73152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5075" y="4506163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4880" y="509320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 + web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754880" y="541324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Bitta backend — ham web panel, ham mobil ilovalar.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041648"/>
            <a:ext cx="345643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12480" y="4315968"/>
            <a:ext cx="731520" cy="731520"/>
          </a:xfrm>
          <a:prstGeom prst="ellipse">
            <a:avLst/>
          </a:prstGeom>
          <a:solidFill>
            <a:srgbClr val="F4FAF9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2675" y="4506163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12480" y="5093208"/>
            <a:ext cx="2953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Doimiy yangilanish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12480" y="5413248"/>
            <a:ext cx="2999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Yangi imkoniyatlar muntazam qo'shilib boradi.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 IntellectSchool?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2706624" cy="3291840"/>
          </a:xfrm>
          <a:prstGeom prst="roundRect">
            <a:avLst>
              <a:gd name="adj" fmla="val 337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783080"/>
            <a:ext cx="2706624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" name="Shape 3"/>
          <p:cNvSpPr/>
          <p:nvPr/>
        </p:nvSpPr>
        <p:spPr>
          <a:xfrm>
            <a:off x="1719072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56816" y="24780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33832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Vaqt tejaladi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78992" y="3886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Hisobot va jurnal soatlardan daqiqalarga.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94176" y="1783080"/>
            <a:ext cx="2706624" cy="3291840"/>
          </a:xfrm>
          <a:prstGeom prst="roundRect">
            <a:avLst>
              <a:gd name="adj" fmla="val 337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94176" y="1783080"/>
            <a:ext cx="2706624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1" name="Shape 8"/>
          <p:cNvSpPr/>
          <p:nvPr/>
        </p:nvSpPr>
        <p:spPr>
          <a:xfrm>
            <a:off x="4590288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247802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22776" y="33832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To'liq shaffoflik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950208" y="3886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Direktor butun maktabni bir ekranda ko'radi.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565392" y="1783080"/>
            <a:ext cx="2706624" cy="3291840"/>
          </a:xfrm>
          <a:prstGeom prst="roundRect">
            <a:avLst>
              <a:gd name="adj" fmla="val 337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65392" y="1783080"/>
            <a:ext cx="2706624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7" name="Shape 13"/>
          <p:cNvSpPr/>
          <p:nvPr/>
        </p:nvSpPr>
        <p:spPr>
          <a:xfrm>
            <a:off x="7461504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9248" y="2478024"/>
            <a:ext cx="438912" cy="4389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93992" y="33832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Tez ishga tushish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821424" y="3886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O'rnatishsiz, brauzer va ilova orqali darrov.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436608" y="1783080"/>
            <a:ext cx="2706624" cy="3291840"/>
          </a:xfrm>
          <a:prstGeom prst="roundRect">
            <a:avLst>
              <a:gd name="adj" fmla="val 3378"/>
            </a:avLst>
          </a:prstGeom>
          <a:solidFill>
            <a:srgbClr val="10384C"/>
          </a:solidFill>
          <a:ln/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436608" y="1783080"/>
            <a:ext cx="2706624" cy="10972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3" name="Shape 18"/>
          <p:cNvSpPr/>
          <p:nvPr/>
        </p:nvSpPr>
        <p:spPr>
          <a:xfrm>
            <a:off x="10332720" y="22402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70464" y="2478024"/>
            <a:ext cx="438912" cy="43891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665208" y="33832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Ota-ona ishonchi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9692640" y="38862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Shaffof aloqa maktab obro'sini oshiradi.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Xususiy maktablar uchun — ko'proq tartib, ko'proq ishonch, ko'proq o'quvchi.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34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Ishga tushirish — oson va tez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41248" y="13258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Demodan to to'liq ishga tushirishgacha — biz har bosqichda yoningizda.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07008" y="3657600"/>
            <a:ext cx="8421624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58368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9908" y="23317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549908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1248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tanishuv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4343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Tizimni jonli ko'rsatamiz va savollarga javob beramiz.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65576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57116" y="2331720"/>
            <a:ext cx="822960" cy="8229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2" name="Text 10"/>
          <p:cNvSpPr/>
          <p:nvPr/>
        </p:nvSpPr>
        <p:spPr>
          <a:xfrm>
            <a:off x="4357116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48456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Sozlash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94176" y="4343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Maktab, sinflar, fanlar va xodimlar kiritiladi.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72784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64324" y="233172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164324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55664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O'qitish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01384" y="4343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va o'qituvchilarga qisqa amaliy treninglar.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79992" y="233172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CEDEA"/>
            </a:solidFill>
            <a:prstDash val="solid"/>
          </a:ln>
          <a:effectLst>
            <a:outerShdw sx="100000" sy="100000" kx="0" ky="0" algn="bl" rotWithShape="0" blurRad="114300" dist="38100" dir="8100000">
              <a:srgbClr val="0B2A3A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971532" y="2331720"/>
            <a:ext cx="822960" cy="82296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9971532" y="2331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62872" y="3749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Ishga tushirish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308592" y="434340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Ota-ona ilovalari ulanadi — tizim to'liq faol.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572000"/>
            <a:ext cx="3291840" cy="3291840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45836" y="1005840"/>
            <a:ext cx="1097280" cy="10972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1129" y="1291133"/>
            <a:ext cx="526694" cy="5266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331720"/>
            <a:ext cx="9418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Maktabingizni raqamli boshqaruvga oling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828800" y="36118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7E7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demo uchun biz bilan bog'laning — maktabingizga moslab ko'rsatamiz.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802636" y="4526280"/>
            <a:ext cx="3154680" cy="640080"/>
          </a:xfrm>
          <a:prstGeom prst="roundRect">
            <a:avLst>
              <a:gd name="adj" fmla="val 50000"/>
            </a:avLst>
          </a:prstGeom>
          <a:solidFill>
            <a:srgbClr val="10384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02636" y="4526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intellectschool.uz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231636" y="4526280"/>
            <a:ext cx="3154680" cy="64008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6231636" y="4526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Bepul demoga yoziling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71600" y="598932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6E9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IntellectSchool — maktab boshqaruv tizimi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Maktab boshqaruv tizimi</dc:title>
  <dc:subject>PptxGenJS Presentation</dc:subject>
  <dc:creator>IntellectSchool</dc:creator>
  <cp:lastModifiedBy>IntellectSchool</cp:lastModifiedBy>
  <cp:revision>1</cp:revision>
  <dcterms:created xsi:type="dcterms:W3CDTF">2026-05-31T15:50:21Z</dcterms:created>
  <dcterms:modified xsi:type="dcterms:W3CDTF">2026-05-31T15:50:21Z</dcterms:modified>
</cp:coreProperties>
</file>